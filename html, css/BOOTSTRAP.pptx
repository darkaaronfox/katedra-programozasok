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9B2CDDE-9926-FECF-24D2-B80F47BF1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0576DBF-A9C1-CB9B-B106-8BB4669D27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E25D163-95D4-65C2-05FD-3E854265E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00B1A-8399-40B2-9A6A-84BFDB2E19F4}" type="datetimeFigureOut">
              <a:rPr lang="hu-HU" smtClean="0"/>
              <a:t>2025.03.23.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D607EEA-5B5D-7ED0-BD58-6BA00942E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582BCE7-0161-008B-F6B9-6000B3C08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C7F2E-07AA-41FD-AF09-5F80D3149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56829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9A9C3C8-D75C-7603-D50C-362EFF38B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536DF10-F0CD-2C88-EB4F-3CB721543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E281568-B2AC-A3D1-EF72-A3F4AF6C6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00B1A-8399-40B2-9A6A-84BFDB2E19F4}" type="datetimeFigureOut">
              <a:rPr lang="hu-HU" smtClean="0"/>
              <a:t>2025.03.23.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2753479-6273-E36B-CBFA-3614CFD61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4E16158-69A0-5105-D8DD-A368D5871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C7F2E-07AA-41FD-AF09-5F80D3149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1459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4AD4E9C-5E88-CCEB-5FBD-76E60167C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9BC323E-FFE1-91FC-DAD2-11129A71E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A0322F5-307E-61AD-543D-1E2990671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00B1A-8399-40B2-9A6A-84BFDB2E19F4}" type="datetimeFigureOut">
              <a:rPr lang="hu-HU" smtClean="0"/>
              <a:t>2025.03.23.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70CAAC1-C0EC-DCB5-F54C-B20C2EC9D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C3A7049-F964-EDE5-2A5A-5D458AEE2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C7F2E-07AA-41FD-AF09-5F80D3149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88917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B55285-8684-A87B-4D3D-01484A8EB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B8A3CBA-0259-4C07-0B1E-9BB34A4A31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F600614-3659-EB5E-23C5-FF35C796A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C435FFA-4224-0FC0-F859-A761D25A8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00B1A-8399-40B2-9A6A-84BFDB2E19F4}" type="datetimeFigureOut">
              <a:rPr lang="hu-HU" smtClean="0"/>
              <a:t>2025.03.23.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1408C26-ECF5-EF08-4EA8-1050C38C9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AE3B21D-E81A-2720-07B9-04F672D9A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C7F2E-07AA-41FD-AF09-5F80D3149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12400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9074F5B-295E-FFE4-A963-0192E6BC2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2D866FA-B466-84B3-3CFB-85EBAF5CB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76E3909-CB85-E5F0-7DF2-4DB328807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0E1A6D70-0E99-0144-4D75-9BFA727C31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7195154C-6BF5-2202-49A0-F9EB0FBD0D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6D23D10A-ED4C-C91E-76BC-CD38DC2E9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00B1A-8399-40B2-9A6A-84BFDB2E19F4}" type="datetimeFigureOut">
              <a:rPr lang="hu-HU" smtClean="0"/>
              <a:t>2025.03.23.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09684A0E-B610-0F7C-73BD-1D798BC73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93150F93-7560-8586-EE4C-C46D332F1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C7F2E-07AA-41FD-AF09-5F80D3149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0705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43AA7D5-355A-440C-B657-270F584B3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2BD8D2D0-01DC-8112-A382-BF85380C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00B1A-8399-40B2-9A6A-84BFDB2E19F4}" type="datetimeFigureOut">
              <a:rPr lang="hu-HU" smtClean="0"/>
              <a:t>2025.03.23.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7E79F30-72C4-278B-571E-430FD1143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4D0A4EEA-057D-A610-E1C4-E4852C31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C7F2E-07AA-41FD-AF09-5F80D3149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48225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8FA5CC9E-726F-4B1B-89E4-8CB7BB2A2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00B1A-8399-40B2-9A6A-84BFDB2E19F4}" type="datetimeFigureOut">
              <a:rPr lang="hu-HU" smtClean="0"/>
              <a:t>2025.03.23.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2174A5E1-BD4E-1D56-509B-6EF4EDBB3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E2CCD5D-8451-C466-FF1C-760B59A94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C7F2E-07AA-41FD-AF09-5F80D3149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95949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8ED866E-E748-B841-6A19-ACC106419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88147EF-61EF-62E5-D85F-C12FCB13B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C731DB0-031F-68F5-1816-F4D3761FA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AD194B4-6456-8D72-492A-3516A7B0D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00B1A-8399-40B2-9A6A-84BFDB2E19F4}" type="datetimeFigureOut">
              <a:rPr lang="hu-HU" smtClean="0"/>
              <a:t>2025.03.23.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A0AD0CE-5281-86C5-EE30-23FAD2B63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02391CA-2D27-2BF8-D4D7-CBD4A72B6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C7F2E-07AA-41FD-AF09-5F80D3149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808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E8BC05-25F4-2DDA-3846-451061E89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D8CF78E8-369C-3B4B-59CC-89D3B5AE7E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9DA74FE-7815-3322-9C90-608BE7619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BD50BE6-08FD-782D-228E-CED80DB8F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00B1A-8399-40B2-9A6A-84BFDB2E19F4}" type="datetimeFigureOut">
              <a:rPr lang="hu-HU" smtClean="0"/>
              <a:t>2025.03.23.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D80C86C-636A-F03C-A8E8-049EF1237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3C5A044-66AD-6915-F8D6-3BFAE1472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C7F2E-07AA-41FD-AF09-5F80D3149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1861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D1A2138-71A6-229F-555D-059FD967D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FA8EAF9-6487-E52B-19E0-30E927AEE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FA38C91-C6EF-E3AC-379C-530831F3B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00B1A-8399-40B2-9A6A-84BFDB2E19F4}" type="datetimeFigureOut">
              <a:rPr lang="hu-HU" smtClean="0"/>
              <a:t>2025.03.23.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B0860D6-D2E2-8FF5-AE1E-F61EEC8FF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91B0071-03BD-1431-C24F-A230AA2DA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C7F2E-07AA-41FD-AF09-5F80D3149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23767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9E8767DF-60F8-1F39-2F29-8BFE14484B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4BA1803-B582-E213-B012-B486023893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CB62BB0-08B0-FCA0-90CF-E7288D577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00B1A-8399-40B2-9A6A-84BFDB2E19F4}" type="datetimeFigureOut">
              <a:rPr lang="hu-HU" smtClean="0"/>
              <a:t>2025.03.23.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95DBD78-7E5C-05DC-B4D1-D27E189F9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A3EA201-0CBA-F711-6F01-B9A07663D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C7F2E-07AA-41FD-AF09-5F80D3149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33522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C073FBA1-0FDA-6271-7A53-0FD38A411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51496F7-45A0-1D48-750D-23E47F23E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9E89A0B-8797-F9C1-C7AD-1FAF98A8B0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C00B1A-8399-40B2-9A6A-84BFDB2E19F4}" type="datetimeFigureOut">
              <a:rPr lang="hu-HU" smtClean="0"/>
              <a:t>2025.03.23.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E2BCFEF-8428-7B94-D07A-2CAC9B8A9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105DBD3-3BD0-7794-5427-49EF52BAE1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AC7F2E-07AA-41FD-AF09-5F80D3149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61190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etbootstrap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etbootstrap.com/docs/5.3/layout/containers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bootstrap5/bootstrap_utilities.php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1DB123-0E2E-9A99-9500-663D400A44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BOOTSTRAP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633F739-DEBC-3E15-DB1B-E34084A1E3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95622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78D4C82-1728-E353-1C51-D833B6A28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 is az a </a:t>
            </a:r>
            <a:r>
              <a:rPr lang="hu-HU" dirty="0" err="1"/>
              <a:t>Bootstrap</a:t>
            </a:r>
            <a:r>
              <a:rPr lang="hu-HU" dirty="0"/>
              <a:t>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5F14612-C389-3E82-0375-B6732B5E3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mobil platformra kifejlesztett ingyenes eszközrendszer</a:t>
            </a:r>
          </a:p>
          <a:p>
            <a:r>
              <a:rPr lang="hu-HU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reszponzív weblapokat készítésére</a:t>
            </a:r>
          </a:p>
          <a:p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gyors és könnyű webfejlesztés a segítségével</a:t>
            </a:r>
          </a:p>
          <a:p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tartalmaz HTML- és CSS-alapú tervezősablonokat</a:t>
            </a:r>
            <a:r>
              <a:rPr lang="hu-HU" dirty="0">
                <a:solidFill>
                  <a:srgbClr val="333333"/>
                </a:solidFill>
                <a:latin typeface="Open Sans" panose="020B0606030504020204" pitchFamily="34" charset="0"/>
              </a:rPr>
              <a:t> (űrlapokhoz, gombokhoz, táblázatokhoz stb.)</a:t>
            </a:r>
          </a:p>
          <a:p>
            <a:r>
              <a:rPr lang="hu-HU" dirty="0">
                <a:solidFill>
                  <a:srgbClr val="333333"/>
                </a:solidFill>
                <a:latin typeface="Open Sans" panose="020B0606030504020204" pitchFamily="34" charset="0"/>
              </a:rPr>
              <a:t>Szinte minden böngészővel kompatibilis</a:t>
            </a:r>
          </a:p>
          <a:p>
            <a:endParaRPr lang="hu-HU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hu-HU" sz="1800" dirty="0">
                <a:solidFill>
                  <a:schemeClr val="accent1"/>
                </a:solidFill>
                <a:latin typeface="Open Sans" panose="020B0606030504020204" pitchFamily="34" charset="0"/>
              </a:rPr>
              <a:t>1_elso.html</a:t>
            </a:r>
            <a:endParaRPr lang="hu-HU" sz="1800" b="0" i="0" dirty="0">
              <a:solidFill>
                <a:schemeClr val="accent1"/>
              </a:solidFill>
              <a:effectLst/>
              <a:latin typeface="Open Sans" panose="020B0606030504020204" pitchFamily="34" charset="0"/>
            </a:endParaRP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93726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053412D-75C6-8AA8-F317-F9B9F12B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Hogyan szerezzük be?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BC7E08C-240A-ED80-E036-0E8F66BDC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28261"/>
          </a:xfrm>
        </p:spPr>
        <p:txBody>
          <a:bodyPr/>
          <a:lstStyle/>
          <a:p>
            <a:r>
              <a:rPr lang="hu-HU" dirty="0"/>
              <a:t>Letöltés: </a:t>
            </a:r>
            <a:r>
              <a:rPr lang="hu-HU" dirty="0">
                <a:hlinkClick r:id="rId2"/>
              </a:rPr>
              <a:t>https://getbootstrap.com</a:t>
            </a:r>
            <a:r>
              <a:rPr lang="hu-HU" dirty="0"/>
              <a:t> VAGY</a:t>
            </a:r>
          </a:p>
          <a:p>
            <a:r>
              <a:rPr lang="hu-HU" dirty="0"/>
              <a:t>Beépítés: CDN-</a:t>
            </a:r>
            <a:r>
              <a:rPr lang="hu-HU" dirty="0" err="1"/>
              <a:t>ből</a:t>
            </a:r>
            <a:endParaRPr lang="hu-HU" dirty="0"/>
          </a:p>
          <a:p>
            <a:pPr marL="0" indent="0">
              <a:buNone/>
            </a:pPr>
            <a:r>
              <a:rPr lang="hu-HU" dirty="0"/>
              <a:t>CDN = </a:t>
            </a:r>
            <a:r>
              <a:rPr lang="hu-HU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Content</a:t>
            </a:r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hu-HU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Delivery</a:t>
            </a:r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Network (kb. tartalomközvetítői hálózat)</a:t>
            </a:r>
          </a:p>
          <a:p>
            <a:pPr marL="0" indent="0">
              <a:buNone/>
            </a:pPr>
            <a:endParaRPr lang="hu-HU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882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895C82E-4E03-289E-2501-8D7724DD3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Legelső </a:t>
            </a:r>
            <a:r>
              <a:rPr lang="hu-HU" dirty="0" err="1"/>
              <a:t>Bootstrap</a:t>
            </a:r>
            <a:r>
              <a:rPr lang="hu-HU" dirty="0"/>
              <a:t> oldal összeállítása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9321035-955B-ABA4-86BF-32C87D5F0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minden esetben a </a:t>
            </a:r>
            <a:r>
              <a:rPr lang="hu-HU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HTML5</a:t>
            </a:r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-ös alapjait kell használni:</a:t>
            </a:r>
          </a:p>
          <a:p>
            <a:pPr marL="0" indent="0">
              <a:buNone/>
            </a:pPr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&lt;!DOCTYPE </a:t>
            </a:r>
            <a:r>
              <a:rPr lang="hu-HU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html</a:t>
            </a:r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&gt;</a:t>
            </a:r>
            <a:br>
              <a:rPr lang="hu-HU" dirty="0"/>
            </a:br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&lt;</a:t>
            </a:r>
            <a:r>
              <a:rPr lang="hu-HU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html</a:t>
            </a:r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hu-HU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lang</a:t>
            </a:r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="</a:t>
            </a:r>
            <a:r>
              <a:rPr lang="hu-HU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en</a:t>
            </a:r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"&gt;</a:t>
            </a:r>
            <a:br>
              <a:rPr lang="hu-HU" dirty="0"/>
            </a:br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&lt;</a:t>
            </a:r>
            <a:r>
              <a:rPr lang="hu-HU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head</a:t>
            </a:r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&gt;</a:t>
            </a:r>
            <a:br>
              <a:rPr lang="hu-HU" dirty="0"/>
            </a:br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&lt;</a:t>
            </a:r>
            <a:r>
              <a:rPr lang="hu-HU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meta</a:t>
            </a:r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hu-HU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charset</a:t>
            </a:r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="utf-8"&gt;</a:t>
            </a:r>
            <a:br>
              <a:rPr lang="hu-HU" dirty="0"/>
            </a:br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&lt;/</a:t>
            </a:r>
            <a:r>
              <a:rPr lang="hu-HU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head</a:t>
            </a:r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&gt;</a:t>
            </a:r>
            <a:br>
              <a:rPr lang="hu-HU" dirty="0"/>
            </a:br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&lt;/</a:t>
            </a:r>
            <a:r>
              <a:rPr lang="hu-HU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html</a:t>
            </a:r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&gt;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57356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EC04E8C-2B08-E4E5-5A17-2363723C1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Mobil platform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BA18753-DDEC-C5B9-E34F-90458A630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869" y="1825625"/>
            <a:ext cx="11327363" cy="4351338"/>
          </a:xfrm>
        </p:spPr>
        <p:txBody>
          <a:bodyPr/>
          <a:lstStyle/>
          <a:p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 </a:t>
            </a:r>
            <a:r>
              <a:rPr lang="hu-HU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Bootstrap</a:t>
            </a:r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alapvetően </a:t>
            </a:r>
            <a:r>
              <a:rPr lang="hu-HU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mobil platformokra tervezett eszköztár</a:t>
            </a:r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, így a reszponzív megjelenés az alapvető részét képezi. A megfelelő </a:t>
            </a:r>
            <a:r>
              <a:rPr lang="hu-HU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rendereléshez</a:t>
            </a:r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és nagyításhoz érdemes a következő sort hozzáadni a </a:t>
            </a:r>
            <a:r>
              <a:rPr lang="hu-HU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&lt;</a:t>
            </a:r>
            <a:r>
              <a:rPr lang="hu-HU" b="0" i="0" dirty="0" err="1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head</a:t>
            </a:r>
            <a:r>
              <a:rPr lang="hu-HU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&gt;</a:t>
            </a:r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elembe:</a:t>
            </a:r>
          </a:p>
          <a:p>
            <a:pPr marL="0" indent="0" algn="ctr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&lt;meta name="viewport" content="width=device-width, initial-scale=1"&gt;</a:t>
            </a:r>
            <a:endParaRPr lang="hu-HU" sz="2400" b="1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hu-HU" sz="1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width=device-width</a:t>
            </a:r>
            <a:r>
              <a:rPr lang="hu-HU" sz="2400" b="1" dirty="0">
                <a:solidFill>
                  <a:srgbClr val="333333"/>
                </a:solidFill>
                <a:latin typeface="Open Sans" panose="020B0606030504020204" pitchFamily="34" charset="0"/>
              </a:rPr>
              <a:t>: </a:t>
            </a:r>
            <a:r>
              <a:rPr lang="hu-HU" dirty="0">
                <a:solidFill>
                  <a:srgbClr val="333333"/>
                </a:solidFill>
                <a:latin typeface="Open Sans" panose="020B0606030504020204" pitchFamily="34" charset="0"/>
              </a:rPr>
              <a:t>úgy állítja be az oldal szélességét, hogy alkalmazkodjon a képernyő szélességéhez</a:t>
            </a:r>
          </a:p>
          <a:p>
            <a:pPr marL="0" indent="0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initial-scale=1</a:t>
            </a:r>
            <a:r>
              <a:rPr lang="hu-HU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: </a:t>
            </a:r>
            <a:r>
              <a:rPr lang="hu-HU" dirty="0">
                <a:solidFill>
                  <a:srgbClr val="333333"/>
                </a:solidFill>
                <a:latin typeface="Open Sans" panose="020B0606030504020204" pitchFamily="34" charset="0"/>
              </a:rPr>
              <a:t>beállítja a böngészőben a kezdeti nagyítást az alapértelmezett szintre</a:t>
            </a:r>
          </a:p>
          <a:p>
            <a:pPr marL="0" indent="0">
              <a:buNone/>
            </a:pPr>
            <a:endParaRPr lang="hu-HU" sz="2400" b="1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endParaRPr lang="hu-HU" sz="2400" b="1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endParaRPr lang="hu-HU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endParaRPr lang="hu-HU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endParaRPr lang="hu-HU" dirty="0">
              <a:solidFill>
                <a:srgbClr val="333333"/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406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1A6EDFE-5031-B53F-E1CB-775EBED01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Konténerek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E98CE5-F4DC-6ECF-5288-A77DCA435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986949"/>
          </a:xfrm>
        </p:spPr>
        <p:txBody>
          <a:bodyPr/>
          <a:lstStyle/>
          <a:p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 </a:t>
            </a:r>
            <a:r>
              <a:rPr lang="hu-HU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Bootstrap</a:t>
            </a:r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alapvetően két fajta konténert alkalmaz a tartalmak megfelelő megjelenítésére:</a:t>
            </a:r>
          </a:p>
          <a:p>
            <a:endParaRPr lang="hu-HU" dirty="0">
              <a:solidFill>
                <a:srgbClr val="333333"/>
              </a:solidFill>
              <a:latin typeface="Open Sans" panose="020B0606030504020204" pitchFamily="34" charset="0"/>
            </a:endParaRPr>
          </a:p>
          <a:p>
            <a:endParaRPr lang="hu-HU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endParaRPr lang="hu-HU" dirty="0">
              <a:solidFill>
                <a:srgbClr val="333333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 </a:t>
            </a:r>
            <a:r>
              <a:rPr lang="hu-HU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.</a:t>
            </a:r>
            <a:r>
              <a:rPr lang="hu-HU" b="0" i="0" dirty="0" err="1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container</a:t>
            </a:r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osztály:			A </a:t>
            </a:r>
            <a:r>
              <a:rPr lang="hu-HU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.</a:t>
            </a:r>
            <a:r>
              <a:rPr lang="hu-HU" b="0" i="0" dirty="0" err="1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container</a:t>
            </a:r>
            <a:r>
              <a:rPr lang="hu-HU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-fluid</a:t>
            </a:r>
            <a: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osztály:</a:t>
            </a:r>
            <a:br>
              <a:rPr lang="hu-HU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r>
              <a:rPr lang="hu-HU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fix szélességű megjelenítésre	alkalmazkodó szélességű</a:t>
            </a:r>
          </a:p>
          <a:p>
            <a:pPr marL="0" indent="0">
              <a:buNone/>
            </a:pPr>
            <a:endParaRPr lang="hu-HU" b="1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hu-HU" sz="1800" dirty="0">
                <a:solidFill>
                  <a:schemeClr val="accent1"/>
                </a:solidFill>
                <a:latin typeface="Open Sans" panose="020B0606030504020204" pitchFamily="34" charset="0"/>
              </a:rPr>
              <a:t>2_allando_container.html				3_fluid_container.html</a:t>
            </a:r>
          </a:p>
          <a:p>
            <a:pPr marL="0" indent="0">
              <a:buNone/>
            </a:pPr>
            <a:endParaRPr lang="hu-HU" dirty="0"/>
          </a:p>
        </p:txBody>
      </p:sp>
      <p:cxnSp>
        <p:nvCxnSpPr>
          <p:cNvPr id="5" name="Egyenes összekötő nyíllal 4">
            <a:extLst>
              <a:ext uri="{FF2B5EF4-FFF2-40B4-BE49-F238E27FC236}">
                <a16:creationId xmlns:a16="http://schemas.microsoft.com/office/drawing/2014/main" id="{B176AD33-BFF5-E639-254A-80E13E4641A8}"/>
              </a:ext>
            </a:extLst>
          </p:cNvPr>
          <p:cNvCxnSpPr/>
          <p:nvPr/>
        </p:nvCxnSpPr>
        <p:spPr>
          <a:xfrm flipH="1">
            <a:off x="2276669" y="2752531"/>
            <a:ext cx="1819470" cy="12596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2DF8758F-8C9C-EBD6-5BA0-D8417409A95A}"/>
              </a:ext>
            </a:extLst>
          </p:cNvPr>
          <p:cNvCxnSpPr>
            <a:cxnSpLocks/>
          </p:cNvCxnSpPr>
          <p:nvPr/>
        </p:nvCxnSpPr>
        <p:spPr>
          <a:xfrm>
            <a:off x="6815234" y="2741662"/>
            <a:ext cx="1759599" cy="12596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Kép 3">
            <a:extLst>
              <a:ext uri="{FF2B5EF4-FFF2-40B4-BE49-F238E27FC236}">
                <a16:creationId xmlns:a16="http://schemas.microsoft.com/office/drawing/2014/main" id="{87AB7E6C-7F88-4B86-AE39-8EDD22613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880995"/>
            <a:ext cx="10730218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522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A1A1D6-BA75-41AA-4E14-E47EF8E61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Konténerek tulajdonságai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3DE71C7-7CD0-0889-078C-5CBE58C0D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5032375"/>
          </a:xfrm>
        </p:spPr>
        <p:txBody>
          <a:bodyPr/>
          <a:lstStyle/>
          <a:p>
            <a:r>
              <a:rPr lang="hu-HU" dirty="0">
                <a:hlinkClick r:id="rId2"/>
              </a:rPr>
              <a:t>https://getbootstrap.com/docs/5.3/layout/containers/</a:t>
            </a:r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pPr marL="0" indent="0">
              <a:buNone/>
            </a:pPr>
            <a:r>
              <a:rPr lang="hu-HU" dirty="0"/>
              <a:t>Balról és jobbról </a:t>
            </a:r>
            <a:r>
              <a:rPr lang="hu-HU" dirty="0" err="1"/>
              <a:t>padding</a:t>
            </a:r>
            <a:endParaRPr lang="hu-HU" dirty="0"/>
          </a:p>
          <a:p>
            <a:endParaRPr lang="hu-HU" dirty="0"/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2BCFB98B-D6DD-A351-F82A-3321DD2EF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8" y="1887424"/>
            <a:ext cx="8754374" cy="373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051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2D16965-7AEB-3467-DC14-782CD7F39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Grid</a:t>
            </a:r>
            <a:r>
              <a:rPr lang="hu-HU" dirty="0"/>
              <a:t> rendszer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D779DC5-46A4-2949-1D55-3FDFCD552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739"/>
            <a:ext cx="10515600" cy="4759224"/>
          </a:xfrm>
        </p:spPr>
        <p:txBody>
          <a:bodyPr/>
          <a:lstStyle/>
          <a:p>
            <a:pPr marL="0" indent="0">
              <a:buNone/>
            </a:pPr>
            <a:endParaRPr lang="hu-HU" dirty="0"/>
          </a:p>
          <a:p>
            <a:r>
              <a:rPr lang="hu-HU" dirty="0"/>
              <a:t>12 oszlopos rendszer, </a:t>
            </a:r>
            <a:r>
              <a:rPr lang="hu-HU" dirty="0" err="1"/>
              <a:t>flexboxokból</a:t>
            </a:r>
            <a:r>
              <a:rPr lang="hu-HU" dirty="0"/>
              <a:t> felépítve, reszponzív</a:t>
            </a:r>
          </a:p>
          <a:p>
            <a:r>
              <a:rPr lang="hu-HU" dirty="0"/>
              <a:t>A 12 oszlop csoportosítható, így szélesebb oszlopok keletkeznek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CED28D51-C5BA-4621-8B02-603213077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456" y="3252831"/>
            <a:ext cx="9638951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029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98701EE-0855-4D50-AE9E-B1477C394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Grid</a:t>
            </a:r>
            <a:r>
              <a:rPr lang="hu-HU" dirty="0"/>
              <a:t> rendszer osztályai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059F0F-2FC9-4F46-8CA6-FFC8E3D1B0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6499" y="1735925"/>
            <a:ext cx="11227324" cy="3724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3200" dirty="0">
                <a:solidFill>
                  <a:srgbClr val="DC143C"/>
                </a:solidFill>
                <a:latin typeface="Consolas" panose="020B0609020204030204" pitchFamily="49" charset="0"/>
              </a:rPr>
              <a:t>.</a:t>
            </a:r>
            <a:r>
              <a:rPr lang="hu-HU" altLang="hu-HU" sz="2400" dirty="0">
                <a:solidFill>
                  <a:srgbClr val="DC143C"/>
                </a:solidFill>
                <a:latin typeface="Consolas" panose="020B0609020204030204" pitchFamily="49" charset="0"/>
              </a:rPr>
              <a:t>col-    </a:t>
            </a:r>
            <a:r>
              <a:rPr lang="hu-HU" altLang="hu-HU" sz="2400" dirty="0">
                <a:solidFill>
                  <a:srgbClr val="000000"/>
                </a:solidFill>
                <a:latin typeface="Verdana" panose="020B0604030504040204" pitchFamily="34" charset="0"/>
              </a:rPr>
              <a:t>(extra </a:t>
            </a:r>
            <a:r>
              <a:rPr lang="hu-HU" altLang="hu-HU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small</a:t>
            </a:r>
            <a:r>
              <a:rPr lang="hu-HU" altLang="hu-HU" sz="2400" dirty="0">
                <a:solidFill>
                  <a:srgbClr val="000000"/>
                </a:solidFill>
                <a:latin typeface="Verdana" panose="020B0604030504040204" pitchFamily="34" charset="0"/>
              </a:rPr>
              <a:t> képernyőméret &lt;= 576px)</a:t>
            </a:r>
            <a:endParaRPr kumimoji="0" lang="hu-HU" altLang="hu-HU" sz="2400" b="0" i="0" u="none" strike="noStrike" cap="none" normalizeH="0" baseline="0" dirty="0">
              <a:ln>
                <a:noFill/>
              </a:ln>
              <a:solidFill>
                <a:srgbClr val="DC143C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.col-</a:t>
            </a:r>
            <a:r>
              <a:rPr kumimoji="0" lang="hu-HU" altLang="hu-HU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sm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(</a:t>
            </a:r>
            <a:r>
              <a:rPr kumimoji="0" lang="hu-HU" altLang="hu-H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small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képernyőméret &gt;= 576px)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.col-md- 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(</a:t>
            </a:r>
            <a:r>
              <a:rPr kumimoji="0" lang="hu-HU" altLang="hu-H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medium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hu-HU" altLang="hu-HU" sz="2400" dirty="0">
                <a:solidFill>
                  <a:srgbClr val="000000"/>
                </a:solidFill>
                <a:latin typeface="Verdana" panose="020B0604030504040204" pitchFamily="34" charset="0"/>
              </a:rPr>
              <a:t>képernyőméret 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&gt;= 768px)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.col-lg-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  (</a:t>
            </a:r>
            <a:r>
              <a:rPr kumimoji="0" lang="hu-HU" altLang="hu-H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large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hu-HU" altLang="hu-HU" sz="2400" dirty="0">
                <a:solidFill>
                  <a:srgbClr val="000000"/>
                </a:solidFill>
                <a:latin typeface="Verdana" panose="020B0604030504040204" pitchFamily="34" charset="0"/>
              </a:rPr>
              <a:t>képernyőméret &gt;= 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992px)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.col-xl- 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(extra </a:t>
            </a:r>
            <a:r>
              <a:rPr kumimoji="0" lang="hu-HU" altLang="hu-H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large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hu-HU" altLang="hu-HU" sz="2400" dirty="0">
                <a:solidFill>
                  <a:srgbClr val="000000"/>
                </a:solidFill>
                <a:latin typeface="Verdana" panose="020B0604030504040204" pitchFamily="34" charset="0"/>
              </a:rPr>
              <a:t>képernyőméret &gt;= 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1200px)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.col-</a:t>
            </a:r>
            <a:r>
              <a:rPr kumimoji="0" lang="hu-HU" altLang="hu-HU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xxl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(xx </a:t>
            </a:r>
            <a:r>
              <a:rPr kumimoji="0" lang="hu-HU" altLang="hu-H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large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hu-HU" altLang="hu-HU" sz="2400" dirty="0">
                <a:solidFill>
                  <a:srgbClr val="000000"/>
                </a:solidFill>
                <a:latin typeface="Verdana" panose="020B0604030504040204" pitchFamily="34" charset="0"/>
              </a:rPr>
              <a:t>képernyőméret &gt;=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1400px)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hu-HU" altLang="hu-HU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hu-HU" altLang="hu-HU" sz="2400" dirty="0">
                <a:solidFill>
                  <a:srgbClr val="000000"/>
                </a:solidFill>
                <a:latin typeface="Verdana" panose="020B0604030504040204" pitchFamily="34" charset="0"/>
              </a:rPr>
              <a:t>https://www.w3schools.com/bootstrap5/bootstrap_grid_examples.php</a:t>
            </a:r>
            <a:endParaRPr kumimoji="0" lang="hu-HU" altLang="hu-HU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818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C110415-3D95-ED03-7937-44820ADE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Létrehozási sorrend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7C76FB9-8230-DBBF-CDAE-7BEF06191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hu-HU" dirty="0"/>
              <a:t>A </a:t>
            </a:r>
            <a:r>
              <a:rPr lang="hu-HU" dirty="0" err="1"/>
              <a:t>containerek</a:t>
            </a:r>
            <a:r>
              <a:rPr lang="hu-HU" dirty="0"/>
              <a:t> létrehozása pl.&lt;div </a:t>
            </a:r>
            <a:r>
              <a:rPr lang="hu-HU" dirty="0" err="1"/>
              <a:t>Class</a:t>
            </a:r>
            <a:r>
              <a:rPr lang="hu-HU" dirty="0"/>
              <a:t>= ” </a:t>
            </a:r>
            <a:r>
              <a:rPr lang="hu-HU" dirty="0" err="1"/>
              <a:t>container</a:t>
            </a:r>
            <a:r>
              <a:rPr lang="hu-HU" dirty="0"/>
              <a:t>”&gt;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/>
              <a:t>Sor létrehozása: &lt;div </a:t>
            </a:r>
            <a:r>
              <a:rPr lang="hu-HU" dirty="0" err="1"/>
              <a:t>class</a:t>
            </a:r>
            <a:r>
              <a:rPr lang="hu-HU" dirty="0"/>
              <a:t>=” </a:t>
            </a:r>
            <a:r>
              <a:rPr lang="hu-HU" dirty="0" err="1"/>
              <a:t>row</a:t>
            </a:r>
            <a:r>
              <a:rPr lang="hu-HU" dirty="0"/>
              <a:t>”&gt;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 err="1"/>
              <a:t>Gridrendszer</a:t>
            </a:r>
            <a:r>
              <a:rPr lang="hu-HU" dirty="0"/>
              <a:t> létrehozása:</a:t>
            </a:r>
          </a:p>
          <a:p>
            <a:pPr marL="0" indent="0">
              <a:buNone/>
            </a:pPr>
            <a:r>
              <a:rPr lang="hu-HU" dirty="0"/>
              <a:t>Mobil nézetben majd pl. médium nagyságban mekkora legyen</a:t>
            </a:r>
          </a:p>
          <a:p>
            <a:pPr marL="0" indent="0" algn="r">
              <a:buNone/>
            </a:pPr>
            <a:r>
              <a:rPr lang="hu-HU" dirty="0"/>
              <a:t> &lt;div </a:t>
            </a:r>
            <a:r>
              <a:rPr lang="hu-HU" dirty="0" err="1"/>
              <a:t>class</a:t>
            </a:r>
            <a:r>
              <a:rPr lang="hu-HU" dirty="0"/>
              <a:t>=”col-12 col-md-4”&gt;</a:t>
            </a:r>
          </a:p>
          <a:p>
            <a:pPr marL="0" indent="0" algn="r">
              <a:buNone/>
            </a:pPr>
            <a:r>
              <a:rPr lang="hu-HU" dirty="0"/>
              <a:t>&lt;div </a:t>
            </a:r>
            <a:r>
              <a:rPr lang="hu-HU" dirty="0" err="1"/>
              <a:t>class</a:t>
            </a:r>
            <a:r>
              <a:rPr lang="hu-HU" dirty="0"/>
              <a:t>=”col-12 col-md-3”&gt;</a:t>
            </a:r>
          </a:p>
          <a:p>
            <a:pPr marL="0" indent="0" algn="r">
              <a:buNone/>
            </a:pPr>
            <a:r>
              <a:rPr lang="hu-HU" dirty="0"/>
              <a:t>&lt;div </a:t>
            </a:r>
            <a:r>
              <a:rPr lang="hu-HU" dirty="0" err="1"/>
              <a:t>class</a:t>
            </a:r>
            <a:r>
              <a:rPr lang="hu-HU" dirty="0"/>
              <a:t>=”col-12 col-md-5”&gt;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8639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3AA36AE-F6D3-3146-96FD-A83CF7ACF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Tipográfia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9F28FDA-76D0-7C8E-115A-0F433263C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Alapértelmezett betűméret: 1rem (16px)</a:t>
            </a:r>
          </a:p>
          <a:p>
            <a:r>
              <a:rPr lang="hu-HU" dirty="0"/>
              <a:t>Alapértelmezett sormagasság: 1.5</a:t>
            </a:r>
          </a:p>
          <a:p>
            <a:r>
              <a:rPr lang="hu-HU" dirty="0"/>
              <a:t>&lt;p&gt; elemeknek margin-top: 0, margin-</a:t>
            </a:r>
            <a:r>
              <a:rPr lang="hu-HU" dirty="0" err="1"/>
              <a:t>bottom</a:t>
            </a:r>
            <a:r>
              <a:rPr lang="hu-HU" dirty="0"/>
              <a:t>: 1rem (16px)</a:t>
            </a:r>
          </a:p>
          <a:p>
            <a:r>
              <a:rPr lang="hu-HU" dirty="0"/>
              <a:t>&lt;h1&gt; - &lt;h6&gt;: vastag betűtípus, reszponzív fontméret</a:t>
            </a:r>
          </a:p>
          <a:p>
            <a:pPr lvl="1"/>
            <a:r>
              <a:rPr lang="hu-HU" dirty="0"/>
              <a:t>Más elemek is viselkedhetnek címsorként:</a:t>
            </a:r>
          </a:p>
          <a:p>
            <a:pPr marL="457200" lvl="1" indent="0">
              <a:buNone/>
            </a:pP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class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="h1"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h1 Bootstrap heading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class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="h2"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h2 Bootstrap heading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30912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87CFB5E-5CE5-05FA-EFB1-BFB1245CB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„Jelentéssel rendelkező” színek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3A408E5-56F9-DC50-EF3E-7A5E26EC6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4237"/>
            <a:ext cx="10515599" cy="470272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b="0" i="0" dirty="0">
                <a:solidFill>
                  <a:srgbClr val="6C757D"/>
                </a:solidFill>
                <a:effectLst/>
                <a:latin typeface="Verdana" panose="020B0604030504040204" pitchFamily="34" charset="0"/>
              </a:rPr>
              <a:t>This text is muted.</a:t>
            </a:r>
            <a:r>
              <a:rPr lang="hu-HU" b="0" i="0" dirty="0">
                <a:solidFill>
                  <a:srgbClr val="6C757D"/>
                </a:solidFill>
                <a:effectLst/>
                <a:latin typeface="Verdana" panose="020B0604030504040204" pitchFamily="34" charset="0"/>
              </a:rPr>
              <a:t>					</a:t>
            </a:r>
            <a:r>
              <a:rPr lang="hu-HU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 .text-</a:t>
            </a:r>
            <a:r>
              <a:rPr lang="hu-HU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muted</a:t>
            </a:r>
            <a:endParaRPr lang="en-US" b="0" i="0" dirty="0">
              <a:solidFill>
                <a:srgbClr val="6C757D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US" b="0" i="0" dirty="0">
                <a:solidFill>
                  <a:srgbClr val="0D6EFD"/>
                </a:solidFill>
                <a:effectLst/>
                <a:latin typeface="Verdana" panose="020B0604030504040204" pitchFamily="34" charset="0"/>
              </a:rPr>
              <a:t>This text is important.</a:t>
            </a:r>
            <a:r>
              <a:rPr lang="hu-HU" b="0" i="0" dirty="0">
                <a:solidFill>
                  <a:srgbClr val="0D6EFD"/>
                </a:solidFill>
                <a:effectLst/>
                <a:latin typeface="Verdana" panose="020B0604030504040204" pitchFamily="34" charset="0"/>
              </a:rPr>
              <a:t>				</a:t>
            </a:r>
            <a:r>
              <a:rPr lang="hu-HU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 .text-</a:t>
            </a:r>
            <a:r>
              <a:rPr lang="hu-HU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primary</a:t>
            </a:r>
            <a:endParaRPr lang="en-US" b="0" i="0" dirty="0">
              <a:solidFill>
                <a:srgbClr val="0D6EFD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US" b="0" i="0" dirty="0">
                <a:solidFill>
                  <a:srgbClr val="198754"/>
                </a:solidFill>
                <a:effectLst/>
                <a:latin typeface="Verdana" panose="020B0604030504040204" pitchFamily="34" charset="0"/>
              </a:rPr>
              <a:t>This text indicates success.</a:t>
            </a:r>
            <a:r>
              <a:rPr lang="hu-HU" b="0" i="0" dirty="0">
                <a:solidFill>
                  <a:srgbClr val="198754"/>
                </a:solidFill>
                <a:effectLst/>
                <a:latin typeface="Verdana" panose="020B0604030504040204" pitchFamily="34" charset="0"/>
              </a:rPr>
              <a:t>			</a:t>
            </a:r>
            <a:r>
              <a:rPr lang="hu-HU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 .text-</a:t>
            </a:r>
            <a:r>
              <a:rPr lang="hu-HU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success</a:t>
            </a:r>
            <a:endParaRPr lang="en-US" b="0" i="0" dirty="0">
              <a:solidFill>
                <a:srgbClr val="198754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US" b="0" i="0" dirty="0">
                <a:solidFill>
                  <a:srgbClr val="0DCAF0"/>
                </a:solidFill>
                <a:effectLst/>
                <a:latin typeface="Verdana" panose="020B0604030504040204" pitchFamily="34" charset="0"/>
              </a:rPr>
              <a:t>This text represents some information.</a:t>
            </a:r>
            <a:r>
              <a:rPr lang="hu-HU" b="0" i="0" dirty="0">
                <a:solidFill>
                  <a:srgbClr val="0DCAF0"/>
                </a:solidFill>
                <a:effectLst/>
                <a:latin typeface="Verdana" panose="020B0604030504040204" pitchFamily="34" charset="0"/>
              </a:rPr>
              <a:t>	</a:t>
            </a:r>
            <a:r>
              <a:rPr lang="hu-HU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 .text-</a:t>
            </a:r>
            <a:r>
              <a:rPr lang="hu-HU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info</a:t>
            </a:r>
            <a:endParaRPr lang="en-US" b="0" i="0" dirty="0">
              <a:solidFill>
                <a:srgbClr val="0DCAF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US" b="0" i="0" dirty="0">
                <a:solidFill>
                  <a:srgbClr val="FFC107"/>
                </a:solidFill>
                <a:effectLst/>
                <a:latin typeface="Verdana" panose="020B0604030504040204" pitchFamily="34" charset="0"/>
              </a:rPr>
              <a:t>This text represents a warning.</a:t>
            </a:r>
            <a:r>
              <a:rPr lang="hu-HU" b="0" i="0" dirty="0">
                <a:solidFill>
                  <a:srgbClr val="FFC107"/>
                </a:solidFill>
                <a:effectLst/>
                <a:latin typeface="Verdana" panose="020B0604030504040204" pitchFamily="34" charset="0"/>
              </a:rPr>
              <a:t>			</a:t>
            </a:r>
            <a:r>
              <a:rPr lang="hu-HU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 .text-</a:t>
            </a:r>
            <a:r>
              <a:rPr lang="hu-HU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warning</a:t>
            </a:r>
            <a:endParaRPr lang="en-US" b="0" i="0" dirty="0">
              <a:solidFill>
                <a:srgbClr val="FFC107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US" b="0" i="0" dirty="0">
                <a:solidFill>
                  <a:srgbClr val="DC3545"/>
                </a:solidFill>
                <a:effectLst/>
                <a:latin typeface="Verdana" panose="020B0604030504040204" pitchFamily="34" charset="0"/>
              </a:rPr>
              <a:t>This text represents danger.</a:t>
            </a:r>
            <a:r>
              <a:rPr lang="hu-HU" b="0" i="0" dirty="0">
                <a:solidFill>
                  <a:srgbClr val="DC3545"/>
                </a:solidFill>
                <a:effectLst/>
                <a:latin typeface="Verdana" panose="020B0604030504040204" pitchFamily="34" charset="0"/>
              </a:rPr>
              <a:t>			</a:t>
            </a:r>
            <a:r>
              <a:rPr lang="hu-HU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 .text-</a:t>
            </a:r>
            <a:r>
              <a:rPr lang="hu-HU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danger</a:t>
            </a:r>
            <a:endParaRPr lang="en-US" b="0" i="0" dirty="0">
              <a:solidFill>
                <a:srgbClr val="DC3545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US" b="0" i="0" dirty="0">
                <a:solidFill>
                  <a:srgbClr val="6C757D"/>
                </a:solidFill>
                <a:effectLst/>
                <a:latin typeface="Verdana" panose="020B0604030504040204" pitchFamily="34" charset="0"/>
              </a:rPr>
              <a:t>Secondary text.</a:t>
            </a:r>
            <a:r>
              <a:rPr lang="hu-HU" b="0" i="0" dirty="0">
                <a:solidFill>
                  <a:srgbClr val="6C757D"/>
                </a:solidFill>
                <a:effectLst/>
                <a:latin typeface="Verdana" panose="020B0604030504040204" pitchFamily="34" charset="0"/>
              </a:rPr>
              <a:t>					</a:t>
            </a:r>
            <a:r>
              <a:rPr lang="hu-HU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 .text-</a:t>
            </a:r>
            <a:r>
              <a:rPr lang="hu-HU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secondary</a:t>
            </a:r>
            <a:endParaRPr lang="en-US" b="0" i="0" dirty="0">
              <a:solidFill>
                <a:srgbClr val="6C757D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US" b="0" i="0" dirty="0">
                <a:solidFill>
                  <a:srgbClr val="212529"/>
                </a:solidFill>
                <a:effectLst/>
                <a:latin typeface="Verdana" panose="020B0604030504040204" pitchFamily="34" charset="0"/>
              </a:rPr>
              <a:t>Dark grey text.</a:t>
            </a:r>
            <a:r>
              <a:rPr lang="hu-HU" b="0" i="0" dirty="0">
                <a:solidFill>
                  <a:srgbClr val="212529"/>
                </a:solidFill>
                <a:effectLst/>
                <a:latin typeface="Verdana" panose="020B0604030504040204" pitchFamily="34" charset="0"/>
              </a:rPr>
              <a:t>					</a:t>
            </a:r>
            <a:r>
              <a:rPr lang="hu-HU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 .text-</a:t>
            </a:r>
            <a:r>
              <a:rPr lang="hu-HU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dark</a:t>
            </a:r>
            <a:endParaRPr lang="en-US" b="0" i="0" dirty="0">
              <a:solidFill>
                <a:srgbClr val="212529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US" b="0" i="0" dirty="0">
                <a:solidFill>
                  <a:srgbClr val="212529"/>
                </a:solidFill>
                <a:effectLst/>
                <a:latin typeface="Verdana" panose="020B0604030504040204" pitchFamily="34" charset="0"/>
              </a:rPr>
              <a:t>Body text.</a:t>
            </a:r>
            <a:r>
              <a:rPr lang="hu-HU" b="0" i="0" dirty="0">
                <a:solidFill>
                  <a:srgbClr val="212529"/>
                </a:solidFill>
                <a:effectLst/>
                <a:latin typeface="Verdana" panose="020B0604030504040204" pitchFamily="34" charset="0"/>
              </a:rPr>
              <a:t>						</a:t>
            </a:r>
            <a:r>
              <a:rPr lang="hu-HU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 .text-body</a:t>
            </a:r>
          </a:p>
          <a:p>
            <a:r>
              <a:rPr lang="hu-HU" b="0" i="0" dirty="0" err="1">
                <a:solidFill>
                  <a:srgbClr val="F8F9FA"/>
                </a:solidFill>
                <a:effectLst/>
                <a:latin typeface="Verdana" panose="020B0604030504040204" pitchFamily="34" charset="0"/>
              </a:rPr>
              <a:t>Light</a:t>
            </a:r>
            <a:r>
              <a:rPr lang="hu-HU" b="0" i="0" dirty="0">
                <a:solidFill>
                  <a:srgbClr val="F8F9FA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hu-HU" b="0" i="0" dirty="0" err="1">
                <a:solidFill>
                  <a:srgbClr val="F8F9FA"/>
                </a:solidFill>
                <a:effectLst/>
                <a:latin typeface="Verdana" panose="020B0604030504040204" pitchFamily="34" charset="0"/>
              </a:rPr>
              <a:t>grey</a:t>
            </a:r>
            <a:r>
              <a:rPr lang="hu-HU" b="0" i="0" dirty="0">
                <a:solidFill>
                  <a:srgbClr val="F8F9FA"/>
                </a:solidFill>
                <a:effectLst/>
                <a:latin typeface="Verdana" panose="020B0604030504040204" pitchFamily="34" charset="0"/>
              </a:rPr>
              <a:t> te						  </a:t>
            </a:r>
            <a:r>
              <a:rPr lang="hu-HU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.text-</a:t>
            </a:r>
            <a:r>
              <a:rPr lang="hu-HU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light</a:t>
            </a:r>
            <a:endParaRPr lang="hu-HU" b="0" i="0" dirty="0">
              <a:solidFill>
                <a:srgbClr val="DC143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hu-HU" dirty="0">
                <a:solidFill>
                  <a:srgbClr val="DC143C"/>
                </a:solidFill>
                <a:latin typeface="Consolas" panose="020B0609020204030204" pitchFamily="49" charset="0"/>
              </a:rPr>
              <a:t>								 </a:t>
            </a:r>
            <a:r>
              <a:rPr lang="hu-HU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dirty="0">
                <a:solidFill>
                  <a:srgbClr val="DC143C"/>
                </a:solidFill>
                <a:latin typeface="Consolas" panose="020B0609020204030204" pitchFamily="49" charset="0"/>
              </a:rPr>
              <a:t>text-</a:t>
            </a:r>
            <a:r>
              <a:rPr lang="hu-HU" dirty="0" err="1">
                <a:solidFill>
                  <a:srgbClr val="DC143C"/>
                </a:solidFill>
                <a:latin typeface="Consolas" panose="020B0609020204030204" pitchFamily="49" charset="0"/>
              </a:rPr>
              <a:t>white</a:t>
            </a:r>
            <a:r>
              <a:rPr lang="hu-HU" b="0" i="0" dirty="0" err="1">
                <a:solidFill>
                  <a:srgbClr val="F8F9FA"/>
                </a:solidFill>
                <a:effectLst/>
                <a:latin typeface="Verdana" panose="020B0604030504040204" pitchFamily="34" charset="0"/>
              </a:rPr>
              <a:t>xt</a:t>
            </a:r>
            <a:r>
              <a:rPr lang="hu-HU" b="0" i="0" dirty="0">
                <a:solidFill>
                  <a:srgbClr val="F8F9FA"/>
                </a:solidFill>
                <a:effectLst/>
                <a:latin typeface="Verdana" panose="020B0604030504040204" pitchFamily="34" charset="0"/>
              </a:rPr>
              <a:t>.</a:t>
            </a:r>
            <a:endParaRPr lang="en-US" b="0" i="0" dirty="0">
              <a:solidFill>
                <a:srgbClr val="212529"/>
              </a:solidFill>
              <a:effectLst/>
              <a:latin typeface="Verdana" panose="020B0604030504040204" pitchFamily="34" charset="0"/>
            </a:endParaRP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93035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32972AB-B1D7-3384-1800-9FB94C382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„Jelentéssel rendelkező” háttérszínek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C57DC1EC-4D58-4242-8816-C23B04E925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702559" cy="3618430"/>
          </a:xfr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3F1A12E8-6A28-2ACF-444D-9800225B156A}"/>
              </a:ext>
            </a:extLst>
          </p:cNvPr>
          <p:cNvSpPr txBox="1"/>
          <p:nvPr/>
        </p:nvSpPr>
        <p:spPr>
          <a:xfrm>
            <a:off x="6708710" y="1839978"/>
            <a:ext cx="36949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32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bg-primary</a:t>
            </a:r>
            <a:endParaRPr lang="hu-HU" sz="3200" b="0" i="0" dirty="0">
              <a:solidFill>
                <a:srgbClr val="DC143C"/>
              </a:solidFill>
              <a:effectLst/>
              <a:latin typeface="Consolas" panose="020B0609020204030204" pitchFamily="49" charset="0"/>
            </a:endParaRPr>
          </a:p>
          <a:p>
            <a:r>
              <a:rPr lang="hu-HU" sz="32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32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bg-success</a:t>
            </a:r>
            <a:endParaRPr lang="hu-HU" sz="3200" dirty="0">
              <a:solidFill>
                <a:srgbClr val="DC143C"/>
              </a:solidFill>
              <a:latin typeface="Consolas" panose="020B0609020204030204" pitchFamily="49" charset="0"/>
            </a:endParaRPr>
          </a:p>
          <a:p>
            <a:r>
              <a:rPr lang="hu-HU" sz="32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32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bg-info</a:t>
            </a:r>
            <a:endParaRPr lang="hu-HU" sz="3200" b="0" i="0" dirty="0">
              <a:solidFill>
                <a:srgbClr val="DC143C"/>
              </a:solidFill>
              <a:effectLst/>
              <a:latin typeface="Consolas" panose="020B0609020204030204" pitchFamily="49" charset="0"/>
            </a:endParaRPr>
          </a:p>
          <a:p>
            <a:r>
              <a:rPr lang="hu-HU" sz="32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32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bg-warning</a:t>
            </a:r>
            <a:endParaRPr lang="hu-HU" sz="3200" dirty="0">
              <a:solidFill>
                <a:srgbClr val="DC143C"/>
              </a:solidFill>
              <a:latin typeface="Consolas" panose="020B0609020204030204" pitchFamily="49" charset="0"/>
            </a:endParaRPr>
          </a:p>
          <a:p>
            <a:r>
              <a:rPr lang="hu-HU" sz="32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32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bg-danger</a:t>
            </a:r>
            <a:endParaRPr lang="hu-HU" sz="3200" b="0" i="0" dirty="0">
              <a:solidFill>
                <a:srgbClr val="DC143C"/>
              </a:solidFill>
              <a:effectLst/>
              <a:latin typeface="Consolas" panose="020B0609020204030204" pitchFamily="49" charset="0"/>
            </a:endParaRPr>
          </a:p>
          <a:p>
            <a:r>
              <a:rPr lang="hu-HU" sz="32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32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bg-secondary</a:t>
            </a:r>
            <a:endParaRPr lang="hu-HU" sz="3200" dirty="0">
              <a:solidFill>
                <a:srgbClr val="DC143C"/>
              </a:solidFill>
              <a:latin typeface="Consolas" panose="020B0609020204030204" pitchFamily="49" charset="0"/>
            </a:endParaRPr>
          </a:p>
          <a:p>
            <a:r>
              <a:rPr lang="hu-HU" sz="32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32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bg-dark</a:t>
            </a:r>
            <a:endParaRPr lang="hu-HU" sz="3200" b="0" i="0" dirty="0">
              <a:solidFill>
                <a:srgbClr val="DC143C"/>
              </a:solidFill>
              <a:effectLst/>
              <a:latin typeface="Consolas" panose="020B0609020204030204" pitchFamily="49" charset="0"/>
            </a:endParaRPr>
          </a:p>
          <a:p>
            <a:r>
              <a:rPr lang="hu-HU" sz="28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28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bg-light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50588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40703F-8718-F907-4D63-34676D1B9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Táblázatok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E79A05B-BF9D-B992-3A93-99024140F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6286"/>
            <a:ext cx="10515600" cy="5281125"/>
          </a:xfrm>
        </p:spPr>
        <p:txBody>
          <a:bodyPr>
            <a:normAutofit/>
          </a:bodyPr>
          <a:lstStyle/>
          <a:p>
            <a:r>
              <a:rPr lang="hu-HU" dirty="0"/>
              <a:t>Alapértelmezetten vékony </a:t>
            </a:r>
            <a:r>
              <a:rPr lang="hu-HU" dirty="0" err="1"/>
              <a:t>padding</a:t>
            </a:r>
            <a:r>
              <a:rPr lang="hu-HU" dirty="0"/>
              <a:t> és vízszintes elválasztóvonal </a:t>
            </a:r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Egyéb lehetőségek: </a:t>
            </a:r>
            <a:r>
              <a:rPr lang="hu-HU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hu-HU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-bordered, .</a:t>
            </a:r>
            <a:r>
              <a:rPr lang="hu-HU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table-hover</a:t>
            </a:r>
            <a:r>
              <a:rPr lang="hu-HU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, .</a:t>
            </a:r>
            <a:r>
              <a:rPr lang="hu-HU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table-dark</a:t>
            </a:r>
            <a:r>
              <a:rPr lang="hu-HU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, .</a:t>
            </a:r>
            <a:r>
              <a:rPr lang="hu-HU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table-striped</a:t>
            </a:r>
            <a:r>
              <a:rPr lang="hu-HU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table-borderless</a:t>
            </a:r>
            <a:r>
              <a:rPr lang="hu-HU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 stb.</a:t>
            </a:r>
          </a:p>
          <a:p>
            <a:r>
              <a:rPr lang="hu-HU" dirty="0"/>
              <a:t>és a színek itt is használhatóak: </a:t>
            </a:r>
            <a:r>
              <a:rPr lang="hu-HU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pl. .</a:t>
            </a:r>
            <a:r>
              <a:rPr lang="hu-HU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table-primary</a:t>
            </a:r>
            <a:r>
              <a:rPr lang="hu-HU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 stb.</a:t>
            </a:r>
            <a:endParaRPr lang="hu-HU" dirty="0"/>
          </a:p>
          <a:p>
            <a:pPr marL="0" indent="0">
              <a:buNone/>
            </a:pPr>
            <a:r>
              <a:rPr lang="hu-HU" dirty="0"/>
              <a:t>https://www.w3schools.com/bootstrap5/bootstrap_tables.php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81A0E4E4-FEC7-0178-6945-80DF0021B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159" y="1801561"/>
            <a:ext cx="5794310" cy="258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847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6BE13AC-9D70-08A3-91CA-CDB589297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Képek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5A9BE38-801C-CCB7-AD3A-4D1AC4A91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6245"/>
            <a:ext cx="10515600" cy="5046630"/>
          </a:xfrm>
        </p:spPr>
        <p:txBody>
          <a:bodyPr>
            <a:normAutofit lnSpcReduction="10000"/>
          </a:bodyPr>
          <a:lstStyle/>
          <a:p>
            <a:r>
              <a:rPr lang="hu-HU" dirty="0"/>
              <a:t>3-féle alak:</a:t>
            </a:r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Igazításuk: </a:t>
            </a:r>
          </a:p>
          <a:p>
            <a:pPr lvl="1"/>
            <a:r>
              <a:rPr lang="hu-HU" dirty="0"/>
              <a:t>Balra: </a:t>
            </a:r>
            <a:r>
              <a:rPr lang="hu-HU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hu-HU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-start</a:t>
            </a:r>
          </a:p>
          <a:p>
            <a:pPr lvl="1"/>
            <a:r>
              <a:rPr lang="hu-HU" dirty="0"/>
              <a:t>Jobbra:</a:t>
            </a:r>
            <a:r>
              <a:rPr lang="hu-HU" dirty="0">
                <a:solidFill>
                  <a:srgbClr val="DC143C"/>
                </a:solidFill>
                <a:latin typeface="Consolas" panose="020B0609020204030204" pitchFamily="49" charset="0"/>
              </a:rPr>
              <a:t> </a:t>
            </a:r>
            <a:r>
              <a:rPr lang="hu-HU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hu-HU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-end</a:t>
            </a:r>
            <a:endParaRPr lang="hu-HU" dirty="0">
              <a:solidFill>
                <a:srgbClr val="DC143C"/>
              </a:solidFill>
              <a:latin typeface="Consolas" panose="020B0609020204030204" pitchFamily="49" charset="0"/>
            </a:endParaRPr>
          </a:p>
          <a:p>
            <a:pPr lvl="1"/>
            <a:r>
              <a:rPr lang="hu-HU" dirty="0"/>
              <a:t>Középre:</a:t>
            </a:r>
            <a:r>
              <a:rPr lang="hu-HU" dirty="0">
                <a:solidFill>
                  <a:srgbClr val="DC143C"/>
                </a:solidFill>
                <a:latin typeface="Consolas" panose="020B0609020204030204" pitchFamily="49" charset="0"/>
              </a:rPr>
              <a:t> </a:t>
            </a:r>
            <a:r>
              <a:rPr lang="hu-HU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="mx-</a:t>
            </a:r>
            <a:r>
              <a:rPr lang="hu-HU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 d-</a:t>
            </a:r>
            <a:r>
              <a:rPr lang="hu-HU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block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hu-HU" dirty="0"/>
              <a:t> </a:t>
            </a:r>
          </a:p>
          <a:p>
            <a:r>
              <a:rPr lang="hu-HU" dirty="0"/>
              <a:t>Reszponzív kép: </a:t>
            </a:r>
            <a:r>
              <a:rPr lang="hu-HU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hu-HU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-fluid"</a:t>
            </a:r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BDE0E20-F5DE-E6ED-B024-EC3D57CED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4768"/>
            <a:ext cx="10395856" cy="231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728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C91939-7071-3B6F-726D-BC6380665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Gombok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BB9F412C-E958-4E62-1B12-1534403C37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46235"/>
            <a:ext cx="9553709" cy="889055"/>
          </a:xfr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4EF84D35-6CB2-1577-7672-D273B8A9DC4B}"/>
              </a:ext>
            </a:extLst>
          </p:cNvPr>
          <p:cNvSpPr txBox="1"/>
          <p:nvPr/>
        </p:nvSpPr>
        <p:spPr>
          <a:xfrm>
            <a:off x="791547" y="2871798"/>
            <a:ext cx="955370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rgbClr val="005CC5"/>
                </a:solidFill>
                <a:latin typeface="Consolas" panose="020B0609020204030204" pitchFamily="49" charset="0"/>
              </a:rPr>
              <a:t>btn</a:t>
            </a:r>
            <a:r>
              <a:rPr lang="hu-HU" dirty="0">
                <a:solidFill>
                  <a:srgbClr val="005CC5"/>
                </a:solidFill>
                <a:latin typeface="Consolas" panose="020B0609020204030204" pitchFamily="49" charset="0"/>
              </a:rPr>
              <a:t> </a:t>
            </a:r>
            <a:r>
              <a:rPr lang="hu-HU" dirty="0"/>
              <a:t> </a:t>
            </a:r>
            <a:r>
              <a:rPr lang="hu-HU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btn-primary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btn-secondary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 stb.</a:t>
            </a:r>
          </a:p>
          <a:p>
            <a:endParaRPr lang="hu-HU" dirty="0">
              <a:solidFill>
                <a:srgbClr val="005CC5"/>
              </a:solidFill>
              <a:latin typeface="Consolas" panose="020B0609020204030204" pitchFamily="49" charset="0"/>
            </a:endParaRPr>
          </a:p>
          <a:p>
            <a:r>
              <a:rPr lang="hu-HU" dirty="0">
                <a:latin typeface="Consolas" panose="020B0609020204030204" pitchFamily="49" charset="0"/>
              </a:rPr>
              <a:t>A </a:t>
            </a:r>
            <a:r>
              <a:rPr lang="hu-HU" dirty="0" err="1">
                <a:latin typeface="Consolas" panose="020B0609020204030204" pitchFamily="49" charset="0"/>
              </a:rPr>
              <a:t>button</a:t>
            </a:r>
            <a:r>
              <a:rPr lang="hu-HU" dirty="0">
                <a:latin typeface="Consolas" panose="020B0609020204030204" pitchFamily="49" charset="0"/>
              </a:rPr>
              <a:t> osztályok használhatók &lt;a&gt;, &lt;</a:t>
            </a:r>
            <a:r>
              <a:rPr lang="hu-HU" dirty="0" err="1">
                <a:latin typeface="Consolas" panose="020B0609020204030204" pitchFamily="49" charset="0"/>
              </a:rPr>
              <a:t>button</a:t>
            </a:r>
            <a:r>
              <a:rPr lang="hu-HU" dirty="0">
                <a:latin typeface="Consolas" panose="020B0609020204030204" pitchFamily="49" charset="0"/>
              </a:rPr>
              <a:t>&gt; egyéb input elemeken</a:t>
            </a:r>
          </a:p>
          <a:p>
            <a:endParaRPr lang="hu-HU" dirty="0">
              <a:latin typeface="Consolas" panose="020B0609020204030204" pitchFamily="49" charset="0"/>
            </a:endParaRPr>
          </a:p>
          <a:p>
            <a:r>
              <a:rPr lang="hu-HU" dirty="0">
                <a:latin typeface="Consolas" panose="020B0609020204030204" pitchFamily="49" charset="0"/>
              </a:rPr>
              <a:t>Példa:</a:t>
            </a:r>
          </a:p>
          <a:p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="#"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class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-success"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Link Button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type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="button"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class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-success"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/button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hu-HU" b="0" i="0" dirty="0">
              <a:solidFill>
                <a:srgbClr val="999999"/>
              </a:solidFill>
              <a:effectLst/>
              <a:latin typeface="Consolas" panose="020B0609020204030204" pitchFamily="49" charset="0"/>
            </a:endParaRPr>
          </a:p>
          <a:p>
            <a:endParaRPr lang="hu-HU" dirty="0">
              <a:solidFill>
                <a:srgbClr val="999999"/>
              </a:solidFill>
              <a:latin typeface="Consolas" panose="020B0609020204030204" pitchFamily="49" charset="0"/>
            </a:endParaRPr>
          </a:p>
          <a:p>
            <a:r>
              <a:rPr lang="hu-HU" dirty="0">
                <a:latin typeface="Consolas" panose="020B0609020204030204" pitchFamily="49" charset="0"/>
              </a:rPr>
              <a:t>Egyéb érdekességek</a:t>
            </a:r>
            <a:r>
              <a:rPr lang="hu-HU" dirty="0">
                <a:solidFill>
                  <a:srgbClr val="999999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hu-HU" dirty="0">
                <a:latin typeface="Consolas" panose="020B0609020204030204" pitchFamily="49" charset="0"/>
              </a:rPr>
              <a:t>https://www.w3schools.com/bootstrap5/bootstrap_buttons.php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886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64EB5E-D3A8-D6C3-D156-B793EEDF9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513"/>
            <a:ext cx="10515600" cy="1034467"/>
          </a:xfrm>
        </p:spPr>
        <p:txBody>
          <a:bodyPr/>
          <a:lstStyle/>
          <a:p>
            <a:r>
              <a:rPr lang="hu-HU" dirty="0" err="1"/>
              <a:t>Nav</a:t>
            </a:r>
            <a:r>
              <a:rPr lang="hu-HU" dirty="0"/>
              <a:t> és </a:t>
            </a:r>
            <a:r>
              <a:rPr lang="hu-HU" dirty="0" err="1"/>
              <a:t>NavBars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E63ECE4-F452-2388-9EC1-D6C4FA965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7624"/>
            <a:ext cx="10515600" cy="5205251"/>
          </a:xfrm>
        </p:spPr>
        <p:txBody>
          <a:bodyPr>
            <a:normAutofit fontScale="92500" lnSpcReduction="20000"/>
          </a:bodyPr>
          <a:lstStyle/>
          <a:p>
            <a:r>
              <a:rPr lang="hu-HU" dirty="0"/>
              <a:t>Vízszintes menü: &lt;</a:t>
            </a:r>
            <a:r>
              <a:rPr lang="hu-HU" dirty="0" err="1"/>
              <a:t>ul</a:t>
            </a:r>
            <a:r>
              <a:rPr lang="hu-HU" dirty="0"/>
              <a:t>&gt; tag .</a:t>
            </a:r>
            <a:r>
              <a:rPr lang="hu-HU" dirty="0" err="1"/>
              <a:t>nav</a:t>
            </a:r>
            <a:r>
              <a:rPr lang="hu-HU" dirty="0"/>
              <a:t> osztállyal, amelyet &lt;li&gt; tag követ .</a:t>
            </a:r>
            <a:r>
              <a:rPr lang="hu-HU" dirty="0" err="1"/>
              <a:t>nav-item</a:t>
            </a:r>
            <a:r>
              <a:rPr lang="hu-HU" dirty="0"/>
              <a:t> osztállyal, majd &lt;a&gt; tag .</a:t>
            </a:r>
            <a:r>
              <a:rPr lang="hu-HU" dirty="0" err="1"/>
              <a:t>nav</a:t>
            </a:r>
            <a:r>
              <a:rPr lang="hu-HU" dirty="0"/>
              <a:t>-linkkel</a:t>
            </a:r>
          </a:p>
          <a:p>
            <a:pPr marL="0" indent="0">
              <a:buNone/>
            </a:pP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hu-HU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hu-HU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hu-HU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hu-HU" dirty="0"/>
            </a:br>
            <a:r>
              <a:rPr lang="hu-H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hu-HU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hu-HU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hu-HU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nav-item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hu-HU" dirty="0"/>
            </a:br>
            <a:r>
              <a:rPr lang="hu-H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hu-HU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hu-HU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hu-HU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-link"</a:t>
            </a:r>
            <a:r>
              <a:rPr lang="hu-HU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hu-HU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="#"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hu-H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hu-HU" dirty="0"/>
            </a:br>
            <a:r>
              <a:rPr lang="hu-H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/li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hu-HU" dirty="0"/>
            </a:br>
            <a:r>
              <a:rPr lang="hu-H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hu-HU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hu-HU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hu-HU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nav-item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hu-HU" dirty="0"/>
            </a:br>
            <a:r>
              <a:rPr lang="hu-H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hu-HU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hu-HU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hu-HU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-link"</a:t>
            </a:r>
            <a:r>
              <a:rPr lang="hu-HU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hu-HU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="#"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hu-H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hu-HU" dirty="0"/>
            </a:br>
            <a:r>
              <a:rPr lang="hu-H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/li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hu-HU" dirty="0"/>
            </a:br>
            <a:r>
              <a:rPr lang="hu-H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hu-HU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hu-HU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hu-HU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nav-item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hu-HU" dirty="0"/>
            </a:br>
            <a:r>
              <a:rPr lang="hu-H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hu-HU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hu-HU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hu-HU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-link"</a:t>
            </a:r>
            <a:r>
              <a:rPr lang="hu-HU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hu-HU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="#"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hu-H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hu-HU" dirty="0"/>
            </a:br>
            <a:r>
              <a:rPr lang="hu-H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/li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hu-HU" dirty="0"/>
            </a:br>
            <a:r>
              <a:rPr lang="hu-H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hu-HU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hu-HU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hu-HU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nav-item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hu-HU" dirty="0"/>
            </a:br>
            <a:r>
              <a:rPr lang="hu-H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hu-HU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hu-HU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hu-HU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-link </a:t>
            </a:r>
            <a:r>
              <a:rPr lang="hu-HU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disabled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hu-HU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hu-HU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="#"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hu-HU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Disabled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hu-HU" dirty="0"/>
            </a:br>
            <a:r>
              <a:rPr lang="hu-H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/li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hu-HU" dirty="0"/>
            </a:b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hu-HU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hu-HU" dirty="0"/>
              <a:t>https://www.w3schools.com/bootstrap5/bootstrap_navs.php</a:t>
            </a:r>
          </a:p>
        </p:txBody>
      </p:sp>
    </p:spTree>
    <p:extLst>
      <p:ext uri="{BB962C8B-B14F-4D97-AF65-F5344CB8AC3E}">
        <p14:creationId xmlns:p14="http://schemas.microsoft.com/office/powerpoint/2010/main" val="2456853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C569D2-02B6-48FE-8730-F92D2B305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Carousel</a:t>
            </a:r>
            <a:r>
              <a:rPr lang="hu-HU" dirty="0"/>
              <a:t> / </a:t>
            </a:r>
            <a:r>
              <a:rPr lang="hu-HU" dirty="0" err="1"/>
              <a:t>Slideshow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1B87A57-EDEC-EFAC-61EF-09DDC893F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https://www.w3schools.com/bootstrap5/bootstrap_carousel.php</a:t>
            </a:r>
          </a:p>
        </p:txBody>
      </p:sp>
    </p:spTree>
    <p:extLst>
      <p:ext uri="{BB962C8B-B14F-4D97-AF65-F5344CB8AC3E}">
        <p14:creationId xmlns:p14="http://schemas.microsoft.com/office/powerpoint/2010/main" val="2385296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EB2329D-7F66-EBFA-7979-F9A1C49D3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Egyéb fontos osztályok (</a:t>
            </a:r>
            <a:r>
              <a:rPr lang="hu-HU" dirty="0" err="1"/>
              <a:t>Utilities</a:t>
            </a:r>
            <a:r>
              <a:rPr lang="hu-HU" dirty="0"/>
              <a:t>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6F363BE-98D8-A355-61F3-AE4A250DA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>
                <a:hlinkClick r:id="rId2"/>
              </a:rPr>
              <a:t>https://www.w3schools.com/bootstrap5/bootstrap_utilities.php</a:t>
            </a:r>
            <a:endParaRPr lang="hu-HU" dirty="0"/>
          </a:p>
          <a:p>
            <a:pPr marL="0" indent="0">
              <a:buNone/>
            </a:pPr>
            <a:r>
              <a:rPr lang="hu-HU" dirty="0"/>
              <a:t>Margin és </a:t>
            </a:r>
            <a:r>
              <a:rPr lang="hu-HU" dirty="0" err="1"/>
              <a:t>padding</a:t>
            </a:r>
            <a:r>
              <a:rPr lang="hu-HU" dirty="0"/>
              <a:t> beállítása:</a:t>
            </a:r>
          </a:p>
          <a:p>
            <a:pPr marL="0" indent="0">
              <a:buNone/>
            </a:pPr>
            <a:r>
              <a:rPr lang="hu-HU" dirty="0"/>
              <a:t>m – margin</a:t>
            </a:r>
          </a:p>
          <a:p>
            <a:pPr marL="0" indent="0">
              <a:buNone/>
            </a:pPr>
            <a:r>
              <a:rPr lang="hu-HU" dirty="0"/>
              <a:t>p – </a:t>
            </a:r>
            <a:r>
              <a:rPr lang="hu-HU" dirty="0" err="1"/>
              <a:t>padding</a:t>
            </a:r>
            <a:endParaRPr lang="hu-HU" dirty="0"/>
          </a:p>
          <a:p>
            <a:pPr marL="0" indent="0">
              <a:buNone/>
            </a:pPr>
            <a:r>
              <a:rPr lang="hu-HU" dirty="0"/>
              <a:t>t – margin-top vagy </a:t>
            </a:r>
            <a:r>
              <a:rPr lang="hu-HU" dirty="0" err="1"/>
              <a:t>padding</a:t>
            </a:r>
            <a:r>
              <a:rPr lang="hu-HU" dirty="0"/>
              <a:t> –top</a:t>
            </a:r>
          </a:p>
          <a:p>
            <a:pPr marL="0" indent="0">
              <a:buNone/>
            </a:pPr>
            <a:r>
              <a:rPr lang="hu-HU" dirty="0"/>
              <a:t>b - margin-</a:t>
            </a:r>
            <a:r>
              <a:rPr lang="hu-HU" dirty="0" err="1"/>
              <a:t>bottom</a:t>
            </a:r>
            <a:r>
              <a:rPr lang="hu-HU" dirty="0"/>
              <a:t> vagy </a:t>
            </a:r>
            <a:r>
              <a:rPr lang="hu-HU" dirty="0" err="1"/>
              <a:t>padding</a:t>
            </a:r>
            <a:r>
              <a:rPr lang="hu-HU" dirty="0"/>
              <a:t> –</a:t>
            </a:r>
            <a:r>
              <a:rPr lang="hu-HU" dirty="0" err="1"/>
              <a:t>bottom</a:t>
            </a:r>
            <a:endParaRPr lang="hu-HU" dirty="0"/>
          </a:p>
          <a:p>
            <a:pPr marL="0" indent="0">
              <a:buNone/>
            </a:pPr>
            <a:r>
              <a:rPr lang="hu-HU" dirty="0"/>
              <a:t>Stb.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07548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61EAC7-3B53-5AEC-0BB6-942703502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Flexbox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F3F3687-C0CE-B652-8239-76BB67519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</a:t>
            </a:r>
            <a:r>
              <a:rPr lang="hu-HU" dirty="0" err="1"/>
              <a:t>Bootstrap</a:t>
            </a:r>
            <a:r>
              <a:rPr lang="hu-HU" dirty="0"/>
              <a:t> 5 </a:t>
            </a:r>
            <a:r>
              <a:rPr lang="hu-HU" dirty="0" err="1"/>
              <a:t>flexbox</a:t>
            </a:r>
            <a:r>
              <a:rPr lang="hu-HU" dirty="0"/>
              <a:t>-ot használ </a:t>
            </a:r>
            <a:r>
              <a:rPr lang="hu-HU" dirty="0" err="1"/>
              <a:t>float</a:t>
            </a:r>
            <a:r>
              <a:rPr lang="hu-HU" dirty="0"/>
              <a:t> helyett</a:t>
            </a:r>
          </a:p>
          <a:p>
            <a:pPr marL="0" indent="0">
              <a:buNone/>
            </a:pP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hu-HU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hu-HU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="d-</a:t>
            </a:r>
            <a:r>
              <a:rPr lang="hu-HU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 p-3 </a:t>
            </a:r>
            <a:r>
              <a:rPr lang="hu-HU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bg-secondary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 text-</a:t>
            </a:r>
            <a:r>
              <a:rPr lang="hu-HU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hu-HU" dirty="0"/>
            </a:br>
            <a:r>
              <a:rPr lang="hu-H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hu-HU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hu-HU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="p-2 </a:t>
            </a:r>
            <a:r>
              <a:rPr lang="hu-HU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bg-info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hu-HU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hu-H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hu-H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1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/div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hu-HU" dirty="0"/>
            </a:br>
            <a:r>
              <a:rPr lang="hu-H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hu-HU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hu-HU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="p-2 </a:t>
            </a:r>
            <a:r>
              <a:rPr lang="hu-HU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bg-warning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hu-HU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hu-H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hu-H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2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/div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hu-HU" dirty="0"/>
            </a:br>
            <a:r>
              <a:rPr lang="hu-H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hu-HU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hu-HU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="p-2 </a:t>
            </a:r>
            <a:r>
              <a:rPr lang="hu-HU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bg-primary</a:t>
            </a:r>
            <a:r>
              <a:rPr lang="hu-HU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hu-HU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hu-H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hu-H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3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/div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hu-HU" dirty="0"/>
            </a:b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/div</a:t>
            </a:r>
            <a:r>
              <a:rPr lang="hu-HU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55B73EB-BC0A-5534-86FD-59D38A67B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97" y="4461241"/>
            <a:ext cx="10654004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56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1079</Words>
  <Application>Microsoft Office PowerPoint</Application>
  <PresentationFormat>Szélesvásznú</PresentationFormat>
  <Paragraphs>145</Paragraphs>
  <Slides>20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Consolas</vt:lpstr>
      <vt:lpstr>Open Sans</vt:lpstr>
      <vt:lpstr>Verdana</vt:lpstr>
      <vt:lpstr>Office-téma</vt:lpstr>
      <vt:lpstr>BOOTSTRAP</vt:lpstr>
      <vt:lpstr>Mi is az a Bootstrap?</vt:lpstr>
      <vt:lpstr>Hogyan szerezzük be?</vt:lpstr>
      <vt:lpstr>Legelső Bootstrap oldal összeállítása</vt:lpstr>
      <vt:lpstr>Mobil platform</vt:lpstr>
      <vt:lpstr>Konténerek</vt:lpstr>
      <vt:lpstr>Konténerek tulajdonságai</vt:lpstr>
      <vt:lpstr>Grid rendszer</vt:lpstr>
      <vt:lpstr>Grid rendszer osztályai</vt:lpstr>
      <vt:lpstr>Létrehozási sorrend</vt:lpstr>
      <vt:lpstr>Tipográfia</vt:lpstr>
      <vt:lpstr>„Jelentéssel rendelkező” színek</vt:lpstr>
      <vt:lpstr>„Jelentéssel rendelkező” háttérszínek</vt:lpstr>
      <vt:lpstr>Táblázatok</vt:lpstr>
      <vt:lpstr>Képek</vt:lpstr>
      <vt:lpstr>Gombok</vt:lpstr>
      <vt:lpstr>Nav és NavBars</vt:lpstr>
      <vt:lpstr>Carousel / Slideshow</vt:lpstr>
      <vt:lpstr>Egyéb fontos osztályok (Utilities)</vt:lpstr>
      <vt:lpstr>Flexbox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BOOTSTRAP</dc:title>
  <dc:creator>Barta Mónika</dc:creator>
  <cp:lastModifiedBy>Barta Mónika</cp:lastModifiedBy>
  <cp:revision>28</cp:revision>
  <dcterms:created xsi:type="dcterms:W3CDTF">2025-03-11T16:56:05Z</dcterms:created>
  <dcterms:modified xsi:type="dcterms:W3CDTF">2025-03-23T15:03:01Z</dcterms:modified>
</cp:coreProperties>
</file>